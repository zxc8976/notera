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56" r:id="rId4"/>
    <p:sldId id="274" r:id="rId5"/>
    <p:sldId id="257" r:id="rId6"/>
    <p:sldId id="275" r:id="rId7"/>
    <p:sldId id="258" r:id="rId8"/>
    <p:sldId id="276" r:id="rId9"/>
    <p:sldId id="259" r:id="rId10"/>
    <p:sldId id="277" r:id="rId11"/>
    <p:sldId id="260" r:id="rId12"/>
    <p:sldId id="278" r:id="rId13"/>
    <p:sldId id="261" r:id="rId14"/>
    <p:sldId id="264" r:id="rId15"/>
    <p:sldId id="265" r:id="rId16"/>
    <p:sldId id="266" r:id="rId17"/>
    <p:sldId id="267" r:id="rId18"/>
    <p:sldId id="268" r:id="rId19"/>
    <p:sldId id="269" r:id="rId20"/>
    <p:sldId id="280" r:id="rId21"/>
    <p:sldId id="279" r:id="rId22"/>
    <p:sldId id="281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C92EE-0C9A-49C4-A9B6-1EF8F7581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D02833-283B-439E-8B3D-8F315CF6B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7315EB-6A48-4E8A-BFE2-06DE6168F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7CC1F8-3233-4D57-A164-44E40E48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D31BAD-81AD-4E93-87DB-7227410E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475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C98298-9A36-4292-93B7-B7381713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285905-0289-437D-AFC3-588C0A1E6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E11E15-5031-425B-BAD9-1127CFB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EEF980-A5BE-423F-952F-0C518E88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18C675-209C-42B8-B8DC-8FEBC477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28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5E7A65-F1DB-4CC8-B5A6-7AB06A7F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655399-B9F7-4690-BAC2-AC8626048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52474C-9DBE-4A1D-A567-1A012FEB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D20370-676A-4B2C-8725-9CBDB290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810856-291E-4B7C-8865-2D25DE89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68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4D8FD-6C65-470E-BFE5-354CAE8A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58F0B8-F9A3-4DFF-B45B-CD8980A9C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DB63C9-4A5A-4F1A-BC00-8CDC3F64E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F60BAB-51BF-43EA-999F-8B4DE665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005463D-3BC1-42CC-A035-9FE1AAF8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22AB6E-0FCC-4DBD-B594-3C630B0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47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A22781-14D9-4FB7-BF55-C534774F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AB3878-26C5-4581-BFFC-187E7612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C5295F-D688-45A7-A1D3-112FF4558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57DD14B-D113-4E0D-85EE-2401059F1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A7FE19-8EDB-46C5-A537-E27CB841E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A0354B4-DC5F-4C3A-A536-E2989102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CF60A2-211C-4F81-ADBD-35AF5AE3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BA35D66-44E2-4B09-86A9-6E6DCDCE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64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52DCAB-2D04-4A4D-94B8-AC12753E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5EA2DF2-3F29-4B4E-AAE6-3A3599B7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81F6C38-96BB-4C1C-B709-71077EFB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366943-785A-49DD-9109-71BCA400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05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9714F98-EFB8-4D97-A1E7-265649DC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059DFEA-2F9E-4094-A23A-C20E8DD3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EEFB6D-144C-4F9A-A10A-AAC703AB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66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ACFD05-CC57-492D-981C-67548B4D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EA96CD-A504-4B75-AB7C-E3302459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1CDDB0-69EC-4409-98B9-B612EF21E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417BBC-87F5-47CC-B999-121ED2ED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3C8351-52D3-45D5-8BCF-38848E1A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974D0D-8D32-416B-B6A2-C131DD2B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47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4C6A6C-4C62-423F-BE73-4A04C512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9B80761-80C0-47A8-A03B-E84C23A62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7455E4-E67F-4CDF-A396-04B133456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C0FEE2-8A05-4EAC-B189-94A60E1B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940674-F7FF-445B-867A-4AB46AB1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DD2568-023F-4398-B174-46903CE1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4895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378BD0-C07A-4AF0-AB40-50BCFBA3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FAB850-D6A4-4CF7-9E26-873812BEA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201250-AD65-4E74-B8FE-32C961ACD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3C2F06-8462-4DEA-BA4D-2AAC2249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AA4721-1C7E-4C91-B917-C5639093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81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FA19B58-DBB3-41C4-8937-AC8055B7F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7EDB782-537B-4051-89A7-1CB39111B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D168A0-FAD9-44CB-939B-353C0500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EB0A01-4A18-4C88-99FA-65BB1A5A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3B0058-91D3-4F59-AF81-9DF9A044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99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4E20065-0A50-4110-A2FF-9C24CF0E4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66B214-F223-4DFD-9F74-2092E6CE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116E07-CC6A-4105-8D57-2A8F7E8D1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D87C-6106-4D72-A65A-AF3296764EA9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07FA8F-10AB-4B9F-A234-E3D4AB614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F08677-8E3A-454B-831C-1FA1C347A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34DF1-DD63-400F-9315-AF65C3A87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91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47E19F-0A09-4841-8C71-094E996A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システム</a:t>
            </a:r>
            <a:r>
              <a:rPr lang="zh-TW" altLang="en-US" dirty="0">
                <a:latin typeface="Noto Sans JP" panose="020B0200000000000000" pitchFamily="34" charset="-128"/>
                <a:ea typeface="Noto Sans JP" panose="020B0200000000000000" pitchFamily="34" charset="-128"/>
              </a:rPr>
              <a:t>紹介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B0EDB3-1069-4130-89AA-A6DA1B4DEB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0444" y="1834717"/>
            <a:ext cx="4031112" cy="3188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1.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フロントの</a:t>
            </a: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UI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紹介</a:t>
            </a:r>
            <a:endParaRPr lang="en-US" altLang="ja-JP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2.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ファイル実行の進捗表示</a:t>
            </a:r>
            <a:endParaRPr lang="en-US" altLang="ja-JP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3.</a:t>
            </a:r>
            <a:r>
              <a:rPr lang="zh-TW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出力結果</a:t>
            </a: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4.</a:t>
            </a:r>
            <a:r>
              <a:rPr lang="zh-TW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言語選択</a:t>
            </a: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5.</a:t>
            </a:r>
            <a:r>
              <a:rPr lang="zh-TW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言語選択例</a:t>
            </a: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6.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システムの動作レポート</a:t>
            </a: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endParaRPr lang="en-US" altLang="zh-TW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189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C166B-21F7-44B4-A9AA-062D3302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594" y="2766218"/>
            <a:ext cx="4746812" cy="1325563"/>
          </a:xfrm>
        </p:spPr>
        <p:txBody>
          <a:bodyPr/>
          <a:lstStyle/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フロントの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UI</a:t>
            </a:r>
            <a:r>
              <a:rPr lang="ja-JP" altLang="en-US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紹介</a:t>
            </a:r>
            <a:br>
              <a:rPr lang="en-US" altLang="ja-JP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</a:br>
            <a:endParaRPr lang="zh-TW" altLang="en-US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4903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86AF9-E82B-4182-BA31-8248C5DA7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50D455D-E55E-45C6-B84D-3D981B2827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69BD382-4F79-4CE8-B93F-EBF01D9F0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6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C166B-21F7-44B4-A9AA-062D3302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706" y="2766218"/>
            <a:ext cx="6454587" cy="1325563"/>
          </a:xfrm>
        </p:spPr>
        <p:txBody>
          <a:bodyPr/>
          <a:lstStyle/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ファイル実行の進捗表示</a:t>
            </a:r>
            <a:endParaRPr lang="zh-TW" altLang="en-US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0691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97A3541-AE50-43A0-A3F1-FF630855F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1" y="0"/>
            <a:ext cx="6095999" cy="32766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E9D659C-7EC7-422A-B978-5F85D39F8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429000"/>
            <a:ext cx="6096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6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C166B-21F7-44B4-A9AA-062D3302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365" y="2766218"/>
            <a:ext cx="2725270" cy="1325563"/>
          </a:xfrm>
        </p:spPr>
        <p:txBody>
          <a:bodyPr/>
          <a:lstStyle/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出力結果</a:t>
            </a:r>
            <a:endParaRPr lang="zh-TW" altLang="en-US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6B6D5C-08B4-4F77-A120-BFD8409A0E98}"/>
              </a:ext>
            </a:extLst>
          </p:cNvPr>
          <p:cNvSpPr txBox="1"/>
          <p:nvPr/>
        </p:nvSpPr>
        <p:spPr>
          <a:xfrm>
            <a:off x="1532964" y="3907115"/>
            <a:ext cx="1085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今</a:t>
            </a:r>
            <a:r>
              <a:rPr lang="en-US" altLang="ja-JP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LLM</a:t>
            </a:r>
            <a:r>
              <a:rPr lang="ja-JP" altLang="en-US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で情報を出力できるけど、内容がまだ全部出ない時があって、</a:t>
            </a:r>
            <a:r>
              <a:rPr lang="en-US" altLang="ja-JP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UI</a:t>
            </a:r>
            <a:r>
              <a:rPr lang="ja-JP" altLang="en-US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も読みづらいから調整中</a:t>
            </a:r>
            <a:endParaRPr lang="zh-TW" altLang="en-US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659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BE619-CF90-4B8F-9E90-C52AC0B4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DBD5EF7B-AEAE-43AB-BF0C-7FB755F58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86" y="220943"/>
            <a:ext cx="5760014" cy="30960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DCCCF80-391F-4524-9F61-36B1D4E68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761" y="220943"/>
            <a:ext cx="5760015" cy="309600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568594B-3418-4AF6-8E31-69BE8D496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85" y="3461133"/>
            <a:ext cx="5760015" cy="30960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4E3487D-1AF1-4204-9D6A-C5C9A7895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761" y="3461133"/>
            <a:ext cx="5760015" cy="309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9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C166B-21F7-44B4-A9AA-062D3302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365" y="2766218"/>
            <a:ext cx="2725270" cy="1325563"/>
          </a:xfrm>
        </p:spPr>
        <p:txBody>
          <a:bodyPr/>
          <a:lstStyle/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言語選択</a:t>
            </a:r>
            <a:endParaRPr lang="zh-TW" altLang="en-US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6B6D5C-08B4-4F77-A120-BFD8409A0E98}"/>
              </a:ext>
            </a:extLst>
          </p:cNvPr>
          <p:cNvSpPr txBox="1"/>
          <p:nvPr/>
        </p:nvSpPr>
        <p:spPr>
          <a:xfrm>
            <a:off x="2030505" y="3907115"/>
            <a:ext cx="1085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言語選択ができて、フロントと</a:t>
            </a:r>
            <a:r>
              <a:rPr lang="en-US" altLang="ja-JP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LLM</a:t>
            </a:r>
            <a:r>
              <a:rPr lang="ja-JP" altLang="en-US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の出力もフロントの言語に合わせて自動で変わる</a:t>
            </a:r>
            <a:endParaRPr lang="zh-TW" altLang="en-US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291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E0E5CB-8154-4F50-89C2-93AFC01B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37B325D-AEB3-409A-B452-2A6D77546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47" y="138415"/>
            <a:ext cx="6644656" cy="357150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D7DB74B-1B1A-4E83-B773-A597D6178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296" y="3148082"/>
            <a:ext cx="6644657" cy="35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46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C166B-21F7-44B4-A9AA-062D3302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364" y="2766218"/>
            <a:ext cx="2725270" cy="1325563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言語選択例</a:t>
            </a:r>
            <a:br>
              <a:rPr lang="en-US" altLang="ja-JP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</a:br>
            <a:endParaRPr lang="zh-TW" altLang="en-US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6B6D5C-08B4-4F77-A120-BFD8409A0E98}"/>
              </a:ext>
            </a:extLst>
          </p:cNvPr>
          <p:cNvSpPr txBox="1"/>
          <p:nvPr/>
        </p:nvSpPr>
        <p:spPr>
          <a:xfrm>
            <a:off x="2030504" y="3907115"/>
            <a:ext cx="1085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中国語</a:t>
            </a:r>
            <a:r>
              <a:rPr lang="en-US" altLang="ja-JP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UI</a:t>
            </a:r>
            <a:r>
              <a:rPr lang="ja-JP" altLang="en-US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に切り替えた時、日本語のポイントと中国語の説明を出せるようになった</a:t>
            </a:r>
            <a:endParaRPr lang="zh-TW" altLang="en-US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1832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A84C6-B217-47DE-A1CE-D9249478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B264DD5-6E42-4457-A075-6D0F85217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833" y="591447"/>
            <a:ext cx="10558334" cy="567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39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C166B-21F7-44B4-A9AA-062D3302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058" y="2766218"/>
            <a:ext cx="5871883" cy="1325563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システムの動作レポート</a:t>
            </a:r>
            <a:br>
              <a:rPr lang="en-US" altLang="ja-JP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</a:br>
            <a:endParaRPr lang="zh-TW" altLang="en-US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3524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1A91E-23DC-4EF5-9D07-03EB3916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0"/>
            <a:ext cx="10515600" cy="5978180"/>
          </a:xfrm>
        </p:spPr>
        <p:txBody>
          <a:bodyPr>
            <a:noAutofit/>
          </a:bodyPr>
          <a:lstStyle/>
          <a:p>
            <a:endParaRPr lang="ja-JP" altLang="en-US" sz="2400" dirty="0"/>
          </a:p>
          <a:p>
            <a:pPr marL="0" indent="0">
              <a:buNone/>
            </a:pPr>
            <a:r>
              <a:rPr lang="zh-TW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技術</a:t>
            </a:r>
            <a:r>
              <a:rPr lang="ja-JP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スタック</a:t>
            </a:r>
          </a:p>
          <a:p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フロントエンド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: 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Vue 3,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Vite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, Element Plus,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Pinia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, Vue Router,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Axios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, Highlight.js/Prism,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KaTeX</a:t>
            </a:r>
            <a:endParaRPr lang="en-US" altLang="zh-TW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バックエンド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: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FastAPI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(Python 3.10),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Uvicorn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PaddleOCR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-VL, Torch, OpenCV,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scenedetect</a:t>
            </a:r>
            <a:endParaRPr lang="en-US" altLang="zh-TW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LLM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: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Ollama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（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qwen3-vl:4b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）</a:t>
            </a: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デプロイ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: 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Docker Compose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（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frontend, backend, 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ollama_local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）</a:t>
            </a: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コアフロー</a:t>
            </a:r>
          </a:p>
          <a:p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1.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パス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設定（動画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画像）</a:t>
            </a:r>
          </a:p>
          <a:p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2. 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動画分割 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+ OCR/VLM</a:t>
            </a:r>
          </a:p>
          <a:p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3. LLM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で 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Markdown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を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生成</a:t>
            </a:r>
          </a:p>
          <a:p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4.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フロントで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描画（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コードハイライト、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KaTeX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、学習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ポイント）</a:t>
            </a:r>
          </a:p>
          <a:p>
            <a:endParaRPr lang="zh-TW" altLang="en-US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3015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1A91E-23DC-4EF5-9D07-03EB3916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439910"/>
            <a:ext cx="10515600" cy="597818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zh-TW" altLang="en-US" sz="70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主</a:t>
            </a:r>
            <a:r>
              <a:rPr lang="ja-JP" altLang="en-US" sz="70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なコードファイル</a:t>
            </a:r>
            <a:r>
              <a:rPr lang="en-US" altLang="zh-TW" sz="70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(</a:t>
            </a:r>
            <a:r>
              <a:rPr lang="ja-JP" altLang="en-US" sz="72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フロントエンド</a:t>
            </a:r>
            <a:r>
              <a:rPr lang="en-US" altLang="zh-TW" sz="72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)</a:t>
            </a:r>
            <a:endParaRPr lang="ja-JP" altLang="en-US" sz="700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frontend/</a:t>
            </a:r>
            <a:r>
              <a:rPr lang="en-US" altLang="zh-TW" sz="70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src</a:t>
            </a:r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/main.js  </a:t>
            </a:r>
          </a:p>
          <a:p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フロントエンドのエントリ。</a:t>
            </a:r>
            <a:r>
              <a:rPr lang="en-US" altLang="zh-TW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Vue/Router/Element Plus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、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ハイライト</a:t>
            </a:r>
            <a:r>
              <a:rPr lang="en-US" altLang="ja-JP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en-US" altLang="zh-TW" sz="70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KaTeX</a:t>
            </a:r>
            <a:r>
              <a:rPr lang="en-US" altLang="zh-TW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を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読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み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込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み、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初期化。</a:t>
            </a:r>
          </a:p>
          <a:p>
            <a:endParaRPr lang="zh-TW" altLang="en-US" sz="70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frontend/</a:t>
            </a:r>
            <a:r>
              <a:rPr lang="en-US" altLang="zh-TW" sz="70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src</a:t>
            </a:r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/views/</a:t>
            </a:r>
            <a:r>
              <a:rPr lang="en-US" altLang="zh-TW" sz="70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Home.vue</a:t>
            </a:r>
            <a:endParaRPr lang="en-US" altLang="zh-TW" sz="70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ホーム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画面：処理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カード、バッチ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処理、統計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バー；サイドバー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折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りたたみ（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設定・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パス・フォルダ・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監視・</a:t>
            </a:r>
            <a:r>
              <a:rPr lang="en-US" altLang="zh-TW" sz="70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Ollama</a:t>
            </a:r>
            <a:r>
              <a:rPr lang="en-US" altLang="zh-TW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状態）。</a:t>
            </a:r>
          </a:p>
          <a:p>
            <a:endParaRPr lang="zh-TW" altLang="en-US" sz="70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frontend/</a:t>
            </a:r>
            <a:r>
              <a:rPr lang="en-US" altLang="zh-TW" sz="70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src</a:t>
            </a:r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/components/</a:t>
            </a:r>
            <a:r>
              <a:rPr lang="en-US" altLang="zh-TW" sz="70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LlmMarkdownNote.vue</a:t>
            </a:r>
            <a:endParaRPr lang="en-US" altLang="zh-TW" sz="70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ノート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描画：</a:t>
            </a:r>
            <a:r>
              <a:rPr lang="en-US" altLang="zh-TW" sz="70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Markdown→HTML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、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コード</a:t>
            </a:r>
            <a:r>
              <a:rPr lang="en-US" altLang="ja-JP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数式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スタイル；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空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コード</a:t>
            </a:r>
            <a:r>
              <a:rPr lang="en-US" altLang="ja-JP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重複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ブロックを</a:t>
            </a:r>
            <a:r>
              <a:rPr lang="zh-TW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除去。</a:t>
            </a:r>
          </a:p>
          <a:p>
            <a:endParaRPr lang="zh-TW" altLang="en-US" sz="70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frontend/</a:t>
            </a:r>
            <a:r>
              <a:rPr lang="en-US" altLang="zh-TW" sz="70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src</a:t>
            </a:r>
            <a:r>
              <a:rPr lang="en-US" altLang="zh-TW" sz="70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/styles/note-compact.css</a:t>
            </a:r>
          </a:p>
          <a:p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ノートのレイアウトと配色：幅制限、余白、コード</a:t>
            </a:r>
            <a:r>
              <a:rPr lang="en-US" altLang="ja-JP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数式</a:t>
            </a:r>
            <a:r>
              <a:rPr lang="en-US" altLang="ja-JP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ja-JP" altLang="en-US" sz="7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ボックスの統一</a:t>
            </a:r>
            <a:endParaRPr lang="zh-TW" altLang="en-US" sz="70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endParaRPr lang="zh-TW" altLang="en-US" dirty="0">
              <a:latin typeface="Calibri (本文)"/>
            </a:endParaRPr>
          </a:p>
        </p:txBody>
      </p:sp>
    </p:spTree>
    <p:extLst>
      <p:ext uri="{BB962C8B-B14F-4D97-AF65-F5344CB8AC3E}">
        <p14:creationId xmlns:p14="http://schemas.microsoft.com/office/powerpoint/2010/main" val="4820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1A91E-23DC-4EF5-9D07-03EB3916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439910"/>
            <a:ext cx="10515600" cy="597818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frontend/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src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/components/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SystemMetricsPanel.vue</a:t>
            </a:r>
            <a:r>
              <a:rPr lang="zh-TW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 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と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src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composables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/useSystemMetrics.js  </a:t>
            </a: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システム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監視：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5 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秒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ごとに 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api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/system/metrics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をポーリングしリソース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表示。</a:t>
            </a: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ops/docker/docker-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compose.yml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コンテナ（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frontend/backend/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ollama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）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と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環境変数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ボリュームを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定義。</a:t>
            </a: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ops/docker/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Dockerfile</a:t>
            </a:r>
            <a:endParaRPr lang="zh-TW" altLang="en-US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CUDA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ランタイム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上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に 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Python 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依存、</a:t>
            </a:r>
            <a:r>
              <a:rPr lang="en-US" altLang="zh-TW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PaddleOCR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、</a:t>
            </a:r>
            <a:r>
              <a:rPr lang="en-US" altLang="zh-TW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Torch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を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導入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し、ヘルスチェック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設定。</a:t>
            </a:r>
          </a:p>
          <a:p>
            <a:endParaRPr lang="zh-TW" altLang="en-US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00390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1A91E-23DC-4EF5-9D07-03EB3916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439910"/>
            <a:ext cx="10515600" cy="5978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主</a:t>
            </a:r>
            <a:r>
              <a:rPr lang="ja-JP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なコードファイル</a:t>
            </a:r>
            <a:r>
              <a:rPr lang="en-US" altLang="zh-TW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(</a:t>
            </a:r>
            <a:r>
              <a:rPr lang="ja-JP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バックエンド</a:t>
            </a:r>
            <a:r>
              <a:rPr lang="en-US" altLang="zh-TW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)</a:t>
            </a:r>
            <a:endParaRPr lang="ja-JP" altLang="en-US" sz="240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backend/app/main.py</a:t>
            </a:r>
          </a:p>
          <a:p>
            <a:r>
              <a:rPr lang="en-US" altLang="zh-TW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FastAPI</a:t>
            </a:r>
            <a:r>
              <a:rPr lang="en-US" altLang="zh-TW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エントリ、ルーティング</a:t>
            </a:r>
            <a:r>
              <a:rPr lang="zh-TW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登録・起動設定。</a:t>
            </a: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backend/app/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config.yaml</a:t>
            </a:r>
            <a:endParaRPr lang="en-US" altLang="zh-TW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バックエンド設定（モデル・パス・ポート・ログ等）</a:t>
            </a:r>
            <a:r>
              <a:rPr lang="zh-TW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。</a:t>
            </a: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backend/modules/api_routes.py</a:t>
            </a: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API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ルート：フロントからのリクエスト（動画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画像処理、ステータス、監視）</a:t>
            </a: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backend/modules/note_generator.py</a:t>
            </a: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ノート生成の中核：シーン分割・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OCR/VLM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・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LLM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を統合</a:t>
            </a:r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5887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1A91E-23DC-4EF5-9D07-03EB3916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439910"/>
            <a:ext cx="10515600" cy="597818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backend/modules/summarize_video.py</a:t>
            </a:r>
          </a:p>
          <a:p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動画パイプライン：シーン検出→フレーム抽出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前処理→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OCR/VLM→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ノート</a:t>
            </a:r>
            <a:endParaRPr lang="en-US" altLang="ja-JP" sz="2400" dirty="0">
              <a:solidFill>
                <a:schemeClr val="tx1">
                  <a:lumMod val="95000"/>
                  <a:lumOff val="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backend/modules/image_analyzer.py</a:t>
            </a: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画像前処理、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OCR/VLM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解析</a:t>
            </a: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backend/modules/llm_client.py</a:t>
            </a:r>
          </a:p>
          <a:p>
            <a:r>
              <a:rPr lang="en-US" altLang="ja-JP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Ollama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呼び出しのラッパー</a:t>
            </a: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backend/modules/status_manager.py</a:t>
            </a:r>
          </a:p>
          <a:p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進捗・ステータス管理、フロントがポーリング</a:t>
            </a:r>
            <a:endParaRPr lang="zh-TW" altLang="en-US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0343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1A91E-23DC-4EF5-9D07-03EB3916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0"/>
            <a:ext cx="10515600" cy="5978180"/>
          </a:xfrm>
        </p:spPr>
        <p:txBody>
          <a:bodyPr>
            <a:noAutofit/>
          </a:bodyPr>
          <a:lstStyle/>
          <a:p>
            <a:endParaRPr lang="ja-JP" altLang="en-US" sz="2400" dirty="0"/>
          </a:p>
          <a:p>
            <a:pPr marL="0" indent="0">
              <a:buNone/>
            </a:pPr>
            <a:r>
              <a:rPr lang="zh-TW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処理</a:t>
            </a:r>
            <a:r>
              <a:rPr lang="ja-JP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フロー</a:t>
            </a:r>
            <a:endParaRPr lang="en-US" altLang="ja-JP" sz="240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1.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フロント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: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設定を受け取る（パス・モデル・パラメータ）</a:t>
            </a:r>
            <a:endParaRPr lang="en-US" altLang="ja-JP" sz="2400" dirty="0">
              <a:solidFill>
                <a:schemeClr val="tx1">
                  <a:lumMod val="95000"/>
                  <a:lumOff val="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2.</a:t>
            </a:r>
            <a:r>
              <a:rPr lang="zh-TW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動画：</a:t>
            </a:r>
            <a:r>
              <a:rPr lang="en-US" altLang="ja-JP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scenedetect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でシーン分割 → 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OpenCV 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でフレーム抽出 → 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OCR/VLM → LLM 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で構造化段落生成</a:t>
            </a:r>
            <a:endParaRPr lang="en-US" altLang="zh-TW" sz="2400" dirty="0">
              <a:solidFill>
                <a:schemeClr val="tx1">
                  <a:lumMod val="95000"/>
                  <a:lumOff val="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3.</a:t>
            </a:r>
            <a:r>
              <a:rPr lang="zh-TW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画像：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OpenCV 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による前処理 → 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OCR/VLM → LLM 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で構造化段落生成</a:t>
            </a:r>
            <a:endParaRPr lang="en-US" altLang="ja-JP" sz="2400" dirty="0">
              <a:solidFill>
                <a:schemeClr val="tx1">
                  <a:lumMod val="95000"/>
                  <a:lumOff val="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4.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結果を返却：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Markdown/JSON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。進捗・メトリクスは 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API </a:t>
            </a:r>
            <a:r>
              <a:rPr lang="ja-JP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で参照</a:t>
            </a:r>
            <a:endParaRPr lang="zh-TW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18134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1A91E-23DC-4EF5-9D07-03EB39163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0"/>
            <a:ext cx="10515600" cy="5978180"/>
          </a:xfrm>
        </p:spPr>
        <p:txBody>
          <a:bodyPr>
            <a:noAutofit/>
          </a:bodyPr>
          <a:lstStyle/>
          <a:p>
            <a:endParaRPr lang="ja-JP" altLang="en-US" sz="2400" dirty="0"/>
          </a:p>
          <a:p>
            <a:pPr marL="0" indent="0">
              <a:buNone/>
            </a:pPr>
            <a:r>
              <a:rPr lang="zh-TW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依存</a:t>
            </a:r>
            <a:r>
              <a:rPr lang="ja-JP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の</a:t>
            </a:r>
            <a:r>
              <a:rPr lang="zh-TW" altLang="en-US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用途</a:t>
            </a:r>
            <a:endParaRPr lang="en-US" altLang="zh-TW" sz="2400" dirty="0">
              <a:solidFill>
                <a:srgbClr val="FF00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457200" indent="-457200">
              <a:buAutoNum type="arabicPeriod"/>
            </a:pP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Torch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：深層学習計算、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GPU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加速の予備</a:t>
            </a: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457200" indent="-457200">
              <a:buAutoNum type="arabicPeriod"/>
            </a:pP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OpenCV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：画像前処理、フレーム操作</a:t>
            </a: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457200" indent="-457200">
              <a:buAutoNum type="arabicPeriod"/>
            </a:pPr>
            <a:r>
              <a:rPr lang="en-US" altLang="ja-JP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scenedetect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：動画のシーン検出・分割</a:t>
            </a: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457200" indent="-457200">
              <a:buAutoNum type="arabicPeriod"/>
            </a:pPr>
            <a:r>
              <a:rPr lang="en-US" altLang="ja-JP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PaddleOCR</a:t>
            </a: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-VL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：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OCR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＋ビジョン言語モデルで画像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/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フレームを解析</a:t>
            </a: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457200" indent="-457200">
              <a:buAutoNum type="arabicPeriod"/>
            </a:pPr>
            <a:r>
              <a:rPr lang="en-US" altLang="ja-JP" sz="2400" dirty="0" err="1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FastAPI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：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API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フレームワーク；</a:t>
            </a:r>
            <a:r>
              <a:rPr lang="en-US" altLang="ja-JP" sz="2400" dirty="0" err="1">
                <a:latin typeface="Noto Sans JP" panose="020B0200000000000000" pitchFamily="34" charset="-128"/>
                <a:ea typeface="Noto Sans JP" panose="020B0200000000000000" pitchFamily="34" charset="-128"/>
              </a:rPr>
              <a:t>Uvicorn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は </a:t>
            </a:r>
            <a:r>
              <a:rPr lang="en-US" altLang="ja-JP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ASGI </a:t>
            </a:r>
            <a:r>
              <a:rPr lang="ja-JP" altLang="en-US" sz="24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サーバー</a:t>
            </a:r>
          </a:p>
          <a:p>
            <a:endParaRPr lang="zh-TW" altLang="en-US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72201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0D9AA17-6368-49F3-BFE0-FE95453F7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339" y="243354"/>
            <a:ext cx="5743319" cy="308703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E96EDEA-CA2F-4F59-8497-EB3852CB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68" y="3569260"/>
            <a:ext cx="5743319" cy="308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6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92A46F-635E-4066-A63A-4984CFFE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816"/>
          </a:xfrm>
        </p:spPr>
        <p:txBody>
          <a:bodyPr>
            <a:normAutofit fontScale="90000"/>
          </a:bodyPr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14BA86-0C88-4AE8-91B5-8C18EA606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718"/>
            <a:ext cx="10515600" cy="4879975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最初は音声＋講義スライドの両方で判断する計画だったけど、音声の収音があまり良くなくてうまくいかなかったから、最後はスライドだけで出力する方式にした。</a:t>
            </a:r>
            <a:endParaRPr lang="en-US" altLang="ja-JP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前は </a:t>
            </a:r>
            <a:r>
              <a:rPr lang="en-US" altLang="ja-JP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Qwen2.5VL</a:t>
            </a: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と</a:t>
            </a:r>
            <a:r>
              <a:rPr lang="ja-JP" altLang="en-US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en-US" altLang="ja-JP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PaddleOCR-4 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を使ってたけど、バージョンアップ後、今は </a:t>
            </a:r>
            <a:r>
              <a:rPr lang="en-US" altLang="ja-JP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Qwen3VL 4B 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と </a:t>
            </a:r>
            <a:r>
              <a:rPr lang="en-US" altLang="ja-JP" sz="2400" dirty="0" err="1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PaddleOCR</a:t>
            </a:r>
            <a:r>
              <a:rPr lang="en-US" altLang="ja-JP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-VL</a:t>
            </a:r>
            <a:r>
              <a:rPr lang="en-US" altLang="ja-JP" sz="2400" dirty="0">
                <a:solidFill>
                  <a:srgbClr val="FF00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に変えてシステムをちょっと最適化してる。 </a:t>
            </a:r>
            <a:r>
              <a:rPr lang="ja-JP" altLang="en-US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速度も出るし、出力の精度もかなり良くなった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。 </a:t>
            </a:r>
            <a:endParaRPr lang="en-US" altLang="ja-JP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endParaRPr lang="en-US" altLang="ja-JP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今のところ、</a:t>
            </a:r>
            <a:r>
              <a:rPr lang="en-US" altLang="ja-JP" sz="2400" dirty="0" err="1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PaddleOCR</a:t>
            </a:r>
            <a:r>
              <a:rPr lang="en-US" altLang="ja-JP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-VL </a:t>
            </a:r>
            <a:r>
              <a:rPr lang="ja-JP" altLang="en-US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はやめようかなと思ってる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。 </a:t>
            </a:r>
            <a:r>
              <a:rPr lang="ja-JP" altLang="en-US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理由は </a:t>
            </a:r>
            <a:r>
              <a:rPr lang="en-US" altLang="ja-JP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Qwen3VL </a:t>
            </a:r>
            <a:r>
              <a:rPr lang="ja-JP" altLang="en-US" sz="2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だけでももう十分レベル高い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し、処理時間とリソースを節約したいから。</a:t>
            </a:r>
            <a:endParaRPr lang="en-US" altLang="ja-JP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endParaRPr lang="en-US" altLang="ja-JP" sz="24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 </a:t>
            </a: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UI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はまだ改善中で、 </a:t>
            </a: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LLM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が後端で作った</a:t>
            </a:r>
            <a:r>
              <a:rPr lang="en-US" altLang="ja-JP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Markdown</a:t>
            </a:r>
            <a:r>
              <a:rPr lang="ja-JP" altLang="en-US" sz="2400" dirty="0">
                <a:solidFill>
                  <a:schemeClr val="accent1">
                    <a:lumMod val="75000"/>
                  </a:schemeClr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をフロントでキレイに表示するのが結構むずい。 どうやって見やすく整えるか、今いろいろ試してるところ。</a:t>
            </a:r>
            <a:endParaRPr lang="zh-TW" altLang="en-US" sz="2400" dirty="0">
              <a:solidFill>
                <a:schemeClr val="accent1">
                  <a:lumMod val="75000"/>
                </a:schemeClr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3836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3BA36C-ED08-4EF2-B603-C57252ACE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311" y="2454742"/>
            <a:ext cx="3841378" cy="19485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4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以上</a:t>
            </a:r>
            <a:r>
              <a:rPr lang="ja-JP" altLang="en-US" sz="4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です</a:t>
            </a:r>
            <a:endParaRPr lang="en-US" altLang="ja-JP" sz="40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endParaRPr lang="en-US" altLang="zh-TW" sz="4000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  <a:p>
            <a:pPr marL="0" indent="0">
              <a:buNone/>
            </a:pPr>
            <a:r>
              <a:rPr lang="zh-TW" altLang="en-US" sz="4000" dirty="0">
                <a:latin typeface="Noto Sans JP" panose="020B0200000000000000" pitchFamily="34" charset="-128"/>
                <a:ea typeface="Noto Sans JP" panose="020B0200000000000000" pitchFamily="34" charset="-128"/>
              </a:rPr>
              <a:t>作成者：林家誠</a:t>
            </a:r>
          </a:p>
        </p:txBody>
      </p:sp>
    </p:spTree>
    <p:extLst>
      <p:ext uri="{BB962C8B-B14F-4D97-AF65-F5344CB8AC3E}">
        <p14:creationId xmlns:p14="http://schemas.microsoft.com/office/powerpoint/2010/main" val="372193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1329</Words>
  <Application>Microsoft Office PowerPoint</Application>
  <PresentationFormat>寬螢幕</PresentationFormat>
  <Paragraphs>94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Calibri (本文)</vt:lpstr>
      <vt:lpstr>Noto Sans JP</vt:lpstr>
      <vt:lpstr>新細明體</vt:lpstr>
      <vt:lpstr>游ゴシック</vt:lpstr>
      <vt:lpstr>Arial</vt:lpstr>
      <vt:lpstr>Calibri</vt:lpstr>
      <vt:lpstr>Calibri Light</vt:lpstr>
      <vt:lpstr>Office 佈景主題</vt:lpstr>
      <vt:lpstr>システム紹介</vt:lpstr>
      <vt:lpstr>フロントのUI紹介 </vt:lpstr>
      <vt:lpstr>PowerPoint 簡報</vt:lpstr>
      <vt:lpstr>ファイル実行の進捗表示</vt:lpstr>
      <vt:lpstr>PowerPoint 簡報</vt:lpstr>
      <vt:lpstr>出力結果</vt:lpstr>
      <vt:lpstr>PowerPoint 簡報</vt:lpstr>
      <vt:lpstr>言語選択</vt:lpstr>
      <vt:lpstr>PowerPoint 簡報</vt:lpstr>
      <vt:lpstr>言語選択例 </vt:lpstr>
      <vt:lpstr>PowerPoint 簡報</vt:lpstr>
      <vt:lpstr>システムの動作レポート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ken lin</dc:creator>
  <cp:lastModifiedBy>ken lin</cp:lastModifiedBy>
  <cp:revision>11</cp:revision>
  <cp:lastPrinted>2025-11-21T04:58:14Z</cp:lastPrinted>
  <dcterms:created xsi:type="dcterms:W3CDTF">2025-11-21T03:42:09Z</dcterms:created>
  <dcterms:modified xsi:type="dcterms:W3CDTF">2025-11-21T05:01:56Z</dcterms:modified>
</cp:coreProperties>
</file>